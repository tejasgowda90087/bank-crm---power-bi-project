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9" r:id="rId10"/>
    <p:sldId id="263" r:id="rId11"/>
    <p:sldId id="264" r:id="rId12"/>
    <p:sldId id="266" r:id="rId13"/>
    <p:sldId id="267" r:id="rId14"/>
    <p:sldId id="268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17" indent="0" algn="ctr">
              <a:buNone/>
              <a:defRPr sz="2000"/>
            </a:lvl2pPr>
            <a:lvl3pPr marL="914434" indent="0" algn="ctr">
              <a:buNone/>
              <a:defRPr sz="1800"/>
            </a:lvl3pPr>
            <a:lvl4pPr marL="1371651" indent="0" algn="ctr">
              <a:buNone/>
              <a:defRPr sz="1600"/>
            </a:lvl4pPr>
            <a:lvl5pPr marL="1828869" indent="0" algn="ctr">
              <a:buNone/>
              <a:defRPr sz="1600"/>
            </a:lvl5pPr>
            <a:lvl6pPr marL="2286086" indent="0" algn="ctr">
              <a:buNone/>
              <a:defRPr sz="1600"/>
            </a:lvl6pPr>
            <a:lvl7pPr marL="2743303" indent="0" algn="ctr">
              <a:buNone/>
              <a:defRPr sz="1600"/>
            </a:lvl7pPr>
            <a:lvl8pPr marL="3200519" indent="0" algn="ctr">
              <a:buNone/>
              <a:defRPr sz="1600"/>
            </a:lvl8pPr>
            <a:lvl9pPr marL="365773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1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1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3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6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5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17" indent="0">
              <a:buNone/>
              <a:defRPr sz="1900" b="1"/>
            </a:lvl2pPr>
            <a:lvl3pPr marL="914434" indent="0">
              <a:buNone/>
              <a:defRPr sz="1800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3" indent="0">
              <a:buNone/>
              <a:defRPr sz="1600" b="1"/>
            </a:lvl7pPr>
            <a:lvl8pPr marL="3200519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7" y="2313435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17" indent="0">
              <a:buNone/>
              <a:defRPr sz="1900" b="1"/>
            </a:lvl2pPr>
            <a:lvl3pPr marL="914434" indent="0">
              <a:buNone/>
              <a:defRPr sz="1800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3" indent="0">
              <a:buNone/>
              <a:defRPr sz="1600" b="1"/>
            </a:lvl7pPr>
            <a:lvl8pPr marL="3200519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30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17" indent="0">
              <a:buNone/>
              <a:defRPr sz="1400"/>
            </a:lvl2pPr>
            <a:lvl3pPr marL="914434" indent="0">
              <a:buNone/>
              <a:defRPr sz="1200"/>
            </a:lvl3pPr>
            <a:lvl4pPr marL="1371651" indent="0">
              <a:buNone/>
              <a:defRPr sz="1000"/>
            </a:lvl4pPr>
            <a:lvl5pPr marL="1828869" indent="0">
              <a:buNone/>
              <a:defRPr sz="1000"/>
            </a:lvl5pPr>
            <a:lvl6pPr marL="2286086" indent="0">
              <a:buNone/>
              <a:defRPr sz="1000"/>
            </a:lvl6pPr>
            <a:lvl7pPr marL="2743303" indent="0">
              <a:buNone/>
              <a:defRPr sz="1000"/>
            </a:lvl7pPr>
            <a:lvl8pPr marL="3200519" indent="0">
              <a:buNone/>
              <a:defRPr sz="1000"/>
            </a:lvl8pPr>
            <a:lvl9pPr marL="365773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3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4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000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1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17" indent="0">
              <a:buNone/>
              <a:defRPr sz="2800"/>
            </a:lvl2pPr>
            <a:lvl3pPr marL="914434" indent="0">
              <a:buNone/>
              <a:defRPr sz="2400"/>
            </a:lvl3pPr>
            <a:lvl4pPr marL="1371651" indent="0">
              <a:buNone/>
              <a:defRPr sz="2000"/>
            </a:lvl4pPr>
            <a:lvl5pPr marL="1828869" indent="0">
              <a:buNone/>
              <a:defRPr sz="2000"/>
            </a:lvl5pPr>
            <a:lvl6pPr marL="2286086" indent="0">
              <a:buNone/>
              <a:defRPr sz="2000"/>
            </a:lvl6pPr>
            <a:lvl7pPr marL="2743303" indent="0">
              <a:buNone/>
              <a:defRPr sz="2000"/>
            </a:lvl7pPr>
            <a:lvl8pPr marL="3200519" indent="0">
              <a:buNone/>
              <a:defRPr sz="2000"/>
            </a:lvl8pPr>
            <a:lvl9pPr marL="365773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20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17" indent="0">
              <a:buNone/>
              <a:defRPr sz="1400"/>
            </a:lvl2pPr>
            <a:lvl3pPr marL="914434" indent="0">
              <a:buNone/>
              <a:defRPr sz="1200"/>
            </a:lvl3pPr>
            <a:lvl4pPr marL="1371651" indent="0">
              <a:buNone/>
              <a:defRPr sz="1000"/>
            </a:lvl4pPr>
            <a:lvl5pPr marL="1828869" indent="0">
              <a:buNone/>
              <a:defRPr sz="1000"/>
            </a:lvl5pPr>
            <a:lvl6pPr marL="2286086" indent="0">
              <a:buNone/>
              <a:defRPr sz="1000"/>
            </a:lvl6pPr>
            <a:lvl7pPr marL="2743303" indent="0">
              <a:buNone/>
              <a:defRPr sz="1000"/>
            </a:lvl7pPr>
            <a:lvl8pPr marL="3200519" indent="0">
              <a:buNone/>
              <a:defRPr sz="1000"/>
            </a:lvl8pPr>
            <a:lvl9pPr marL="365773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3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7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6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1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34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17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25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34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42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912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68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412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846" indent="-228608" algn="l" defTabSz="914434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7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4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1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9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6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3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19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36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85B0-BAD9-4887-5B54-2650A887F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1" b="1" cap="none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BANK CRM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39ADB-2D67-77DD-051D-247D32D0C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TEJAS K R</a:t>
            </a:r>
          </a:p>
        </p:txBody>
      </p:sp>
    </p:spTree>
    <p:extLst>
      <p:ext uri="{BB962C8B-B14F-4D97-AF65-F5344CB8AC3E}">
        <p14:creationId xmlns:p14="http://schemas.microsoft.com/office/powerpoint/2010/main" val="277451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568,900+ Banking Symbols Stock Illustrations, Royalty-Free Vector Graphics  &amp; Clip Art - iStock | Banking icons">
            <a:extLst>
              <a:ext uri="{FF2B5EF4-FFF2-40B4-BE49-F238E27FC236}">
                <a16:creationId xmlns:a16="http://schemas.microsoft.com/office/drawing/2014/main" id="{FFA55703-8CB6-E7AC-8D41-CA2B48BB4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90"/>
            <a:ext cx="12192000" cy="687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ank Icon, Finance Symbol, Currency Graphic PNG Photo">
            <a:extLst>
              <a:ext uri="{FF2B5EF4-FFF2-40B4-BE49-F238E27FC236}">
                <a16:creationId xmlns:a16="http://schemas.microsoft.com/office/drawing/2014/main" id="{4BAD4B3C-33BF-A09F-123C-BC1144682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639" y="69000"/>
            <a:ext cx="5869858" cy="567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5B0E50-F8FA-4FEA-01AD-A5A1536C7CEE}"/>
              </a:ext>
            </a:extLst>
          </p:cNvPr>
          <p:cNvSpPr txBox="1"/>
          <p:nvPr/>
        </p:nvSpPr>
        <p:spPr>
          <a:xfrm>
            <a:off x="4591666" y="6265782"/>
            <a:ext cx="281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                </a:t>
            </a:r>
            <a:r>
              <a:rPr lang="en-US" sz="2800" b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18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CC2F-67CB-C203-EE2E-9EAE9987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1" cap="none" spc="0" dirty="0">
                <a:ln w="6350">
                  <a:noFill/>
                </a:ln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Table of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6CE8-A5BC-193E-93FF-23262A72D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Data Description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Date Schema</a:t>
            </a:r>
            <a:endParaRPr lang="en-IN" b="1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Observations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Key Insights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Dashboard </a:t>
            </a: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Conclusion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8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A65D-8B6D-7D3F-E300-3A6F1917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290" y="443583"/>
            <a:ext cx="7709278" cy="991927"/>
          </a:xfrm>
        </p:spPr>
        <p:txBody>
          <a:bodyPr/>
          <a:lstStyle/>
          <a:p>
            <a:r>
              <a:rPr lang="en-US" sz="3601" b="1" cap="none" spc="0" dirty="0">
                <a:ln w="6350">
                  <a:noFill/>
                </a:ln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07B88-90CB-D9B7-D1DB-AEF8611F3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6" y="2638045"/>
            <a:ext cx="11385754" cy="1589827"/>
          </a:xfrm>
        </p:spPr>
        <p:txBody>
          <a:bodyPr/>
          <a:lstStyle/>
          <a:p>
            <a:pPr algn="just">
              <a:spcBef>
                <a:spcPts val="0"/>
              </a:spcBef>
              <a:buClr>
                <a:srgbClr val="000000"/>
              </a:buClr>
              <a:buSzPts val="1800"/>
            </a:pPr>
            <a:r>
              <a:rPr lang="en-GB" dirty="0">
                <a:latin typeface="Arial" pitchFamily="34" charset="0"/>
                <a:ea typeface="Lato"/>
                <a:cs typeface="Arial" pitchFamily="34" charset="0"/>
              </a:rPr>
              <a:t>You are an analytical CRM (Customer Relationship Management) specialist hired by a bank to extract meaningful insights from various customer-related datasets. </a:t>
            </a:r>
          </a:p>
          <a:p>
            <a:pPr algn="just">
              <a:spcBef>
                <a:spcPts val="0"/>
              </a:spcBef>
              <a:buClr>
                <a:srgbClr val="000000"/>
              </a:buClr>
              <a:buSzPts val="1800"/>
            </a:pPr>
            <a:r>
              <a:rPr lang="en-GB" dirty="0">
                <a:latin typeface="Arial" pitchFamily="34" charset="0"/>
                <a:ea typeface="Lato"/>
                <a:cs typeface="Arial" pitchFamily="34" charset="0"/>
              </a:rPr>
              <a:t>The bank aims to reduce customer churn, improve service delivery, and enhance customer satisfaction. </a:t>
            </a:r>
          </a:p>
          <a:p>
            <a:pPr algn="just">
              <a:spcBef>
                <a:spcPts val="0"/>
              </a:spcBef>
              <a:buClr>
                <a:srgbClr val="000000"/>
              </a:buClr>
              <a:buSzPts val="1800"/>
            </a:pPr>
            <a:r>
              <a:rPr lang="en-GB" dirty="0">
                <a:latin typeface="Arial" pitchFamily="34" charset="0"/>
                <a:ea typeface="Lato"/>
                <a:cs typeface="Arial" pitchFamily="34" charset="0"/>
              </a:rPr>
              <a:t>They have provided you with datasets including customer demographics, transaction details, customer exit information, and active customer profiles.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45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5AB4-A572-A7D1-7E17-923BFEE3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4757"/>
            <a:ext cx="7729728" cy="1050920"/>
          </a:xfrm>
        </p:spPr>
        <p:txBody>
          <a:bodyPr/>
          <a:lstStyle/>
          <a:p>
            <a:r>
              <a:rPr lang="en-US" b="1" cap="none" dirty="0">
                <a:ln w="6350">
                  <a:noFill/>
                </a:ln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description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CAE1-EBF6-E8E8-2E6B-B5F42CBF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8" y="2159534"/>
            <a:ext cx="7729728" cy="4401853"/>
          </a:xfrm>
        </p:spPr>
        <p:txBody>
          <a:bodyPr>
            <a:normAutofit fontScale="92500" lnSpcReduction="10000"/>
          </a:bodyPr>
          <a:lstStyle/>
          <a:p>
            <a:pPr marL="419142" indent="-285778" defTabSz="457246">
              <a:lnSpc>
                <a:spcPct val="115000"/>
              </a:lnSpc>
              <a:spcBef>
                <a:spcPts val="0"/>
              </a:spcBef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Row Number: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 The row number in the dataset, likely used for reference or indexing.</a:t>
            </a:r>
          </a:p>
          <a:p>
            <a:pPr marL="419142" indent="-285778" defTabSz="457246">
              <a:lnSpc>
                <a:spcPct val="115000"/>
              </a:lnSpc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Customer Id: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 A unique identifier for each customer.</a:t>
            </a:r>
          </a:p>
          <a:p>
            <a:pPr marL="419142" indent="-285778" defTabSz="457246"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Credit Score: 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A numerical representation of the customer's creditworthiness.</a:t>
            </a:r>
          </a:p>
          <a:p>
            <a:pPr marL="419142" indent="-285778" defTabSz="457246">
              <a:lnSpc>
                <a:spcPct val="115000"/>
              </a:lnSpc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Geography ID: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 A numerical identifier that likely corresponds to a geographical location, such as a country or region.</a:t>
            </a:r>
          </a:p>
          <a:p>
            <a:pPr marL="419142" indent="-285778" defTabSz="457246"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Gender ID: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 A numerical identifier for the customer's gender, where for example, '1' could represent male and '2' could represent female.</a:t>
            </a:r>
            <a:endParaRPr lang="en-GB" b="1" dirty="0">
              <a:solidFill>
                <a:schemeClr val="tx1"/>
              </a:solidFill>
              <a:latin typeface="Arial" pitchFamily="34" charset="0"/>
              <a:ea typeface="Lato"/>
              <a:cs typeface="Arial" pitchFamily="34" charset="0"/>
              <a:sym typeface="Lato"/>
            </a:endParaRPr>
          </a:p>
          <a:p>
            <a:pPr marL="419142" indent="-285778" defTabSz="457246"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Age: 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The age of the customer.</a:t>
            </a:r>
          </a:p>
          <a:p>
            <a:pPr marL="419142" indent="-285778" defTabSz="457246"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Tenure: 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The number of years the customer has been with the bank.</a:t>
            </a: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 </a:t>
            </a:r>
          </a:p>
          <a:p>
            <a:pPr marL="419142" indent="-285778" defTabSz="457246">
              <a:spcAft>
                <a:spcPts val="1000"/>
              </a:spcAft>
              <a:buClr>
                <a:prstClr val="black"/>
              </a:buClr>
              <a:buSzPts val="1500"/>
              <a:defRPr/>
            </a:pPr>
            <a:r>
              <a:rPr lang="en-GB" b="1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Balance: </a:t>
            </a:r>
            <a:r>
              <a:rPr lang="en-GB" dirty="0">
                <a:solidFill>
                  <a:schemeClr val="tx1"/>
                </a:solidFill>
                <a:latin typeface="Arial" pitchFamily="34" charset="0"/>
                <a:ea typeface="Lato"/>
                <a:cs typeface="Arial" pitchFamily="34" charset="0"/>
                <a:sym typeface="Lato"/>
              </a:rPr>
              <a:t>Current balance in the customer's account.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82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D473-BBCE-1A1A-1D49-E90D7F15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956" y="386482"/>
            <a:ext cx="7729728" cy="849359"/>
          </a:xfrm>
        </p:spPr>
        <p:txBody>
          <a:bodyPr>
            <a:normAutofit/>
          </a:bodyPr>
          <a:lstStyle/>
          <a:p>
            <a:r>
              <a:rPr lang="en-US" b="1" cap="none" spc="0" dirty="0">
                <a:ln w="6350">
                  <a:noFill/>
                </a:ln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description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131A-148E-1041-F200-42ECF33DE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957" y="2382406"/>
            <a:ext cx="7729728" cy="3664433"/>
          </a:xfrm>
        </p:spPr>
        <p:txBody>
          <a:bodyPr>
            <a:normAutofit lnSpcReduction="10000"/>
          </a:bodyPr>
          <a:lstStyle/>
          <a:p>
            <a:pPr marL="419142" indent="-285778">
              <a:buClr>
                <a:srgbClr val="000000"/>
              </a:buClr>
              <a:buSzPts val="15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Num Of Products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: refers to the number of products that a customer has purchased through the bank. </a:t>
            </a:r>
          </a:p>
          <a:p>
            <a:pPr marL="419142" indent="-285778">
              <a:buClr>
                <a:srgbClr val="000000"/>
              </a:buClr>
              <a:buSzPts val="15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Has Cr Card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: denotes whether or not a customer has a credit card. This column is also relevant, since people with a credit card are less likely to leave the bank. </a:t>
            </a:r>
          </a:p>
          <a:p>
            <a:pPr marL="419142" indent="-285778">
              <a:buClr>
                <a:srgbClr val="000000"/>
              </a:buClr>
              <a:buSzPts val="15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Is Active Member: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 active customers are less likely to leave the bank (as per the criteria defined by the bank for identifying the activeness). </a:t>
            </a:r>
          </a:p>
          <a:p>
            <a:pPr marL="419142" indent="-285778">
              <a:buClr>
                <a:srgbClr val="000000"/>
              </a:buClr>
              <a:buSzPts val="15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Estimated Salary: 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as with balance, people with lower salaries are more likely to leave the bank compared to those with higher salaries.</a:t>
            </a:r>
          </a:p>
          <a:p>
            <a:pPr marL="412791" indent="-285778">
              <a:buClr>
                <a:schemeClr val="dk1"/>
              </a:buClr>
              <a:buSzPts val="16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Exited: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 whether or not the customer left the bank.	</a:t>
            </a:r>
          </a:p>
          <a:p>
            <a:pPr marL="412791" indent="-285778">
              <a:buClr>
                <a:schemeClr val="dk1"/>
              </a:buClr>
              <a:buSzPts val="1600"/>
            </a:pPr>
            <a:r>
              <a:rPr lang="en-GB" b="1" dirty="0">
                <a:latin typeface="Arial" pitchFamily="34" charset="0"/>
                <a:ea typeface="Lato"/>
                <a:cs typeface="Arial" pitchFamily="34" charset="0"/>
                <a:sym typeface="Lato"/>
              </a:rPr>
              <a:t>Bank DOJ:</a:t>
            </a:r>
            <a:r>
              <a:rPr lang="en-GB" dirty="0">
                <a:latin typeface="Arial" pitchFamily="34" charset="0"/>
                <a:ea typeface="Lato"/>
                <a:cs typeface="Arial" pitchFamily="34" charset="0"/>
                <a:sym typeface="Lato"/>
              </a:rPr>
              <a:t> date when the Customer associated/joined  with the bank.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460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7105-A5F6-6368-6685-2C4C5DC2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446" y="299884"/>
            <a:ext cx="7532296" cy="854276"/>
          </a:xfrm>
        </p:spPr>
        <p:txBody>
          <a:bodyPr>
            <a:normAutofit/>
          </a:bodyPr>
          <a:lstStyle/>
          <a:p>
            <a:r>
              <a:rPr lang="en-US" b="1" cap="none" spc="0" dirty="0">
                <a:ln w="6350">
                  <a:noFill/>
                </a:ln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DATABASE SCHEMA</a:t>
            </a: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571B05-A45E-DB53-66C2-BF718C8E8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414" y="1917291"/>
            <a:ext cx="8888361" cy="4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6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D3AE-B888-954B-12CD-5728CA05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148615"/>
            <a:ext cx="11956026" cy="982095"/>
          </a:xfrm>
        </p:spPr>
        <p:txBody>
          <a:bodyPr>
            <a:normAutofit fontScale="90000"/>
          </a:bodyPr>
          <a:lstStyle/>
          <a:p>
            <a:pPr defTabSz="457246">
              <a:lnSpc>
                <a:spcPct val="100000"/>
              </a:lnSpc>
              <a:spcBef>
                <a:spcPts val="0"/>
              </a:spcBef>
              <a:defRPr/>
            </a:pPr>
            <a:br>
              <a:rPr lang="en" sz="3100" b="1" cap="none" spc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  <a:sym typeface="Arial"/>
              </a:rPr>
            </a:br>
            <a:r>
              <a:rPr lang="en" sz="3100" b="1" cap="none" spc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  <a:sym typeface="Arial"/>
              </a:rPr>
              <a:t>Total Balance of customers in each Region</a:t>
            </a:r>
            <a:br>
              <a:rPr lang="en-US" sz="3601" cap="none" spc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810ED4-D1D9-8F00-FF53-69D0758AE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0853" y="1507833"/>
            <a:ext cx="5363323" cy="2000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DA224D-C603-A3C2-E254-5315A6CD767F}"/>
              </a:ext>
            </a:extLst>
          </p:cNvPr>
          <p:cNvSpPr txBox="1">
            <a:spLocks/>
          </p:cNvSpPr>
          <p:nvPr/>
        </p:nvSpPr>
        <p:spPr>
          <a:xfrm>
            <a:off x="117987" y="3607402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C0E156-7809-23CA-4FA4-462575E1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5"/>
          <a:stretch>
            <a:fillRect/>
          </a:stretch>
        </p:blipFill>
        <p:spPr>
          <a:xfrm>
            <a:off x="115212" y="3756665"/>
            <a:ext cx="3707276" cy="2952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41DFC4-48A2-2CDF-34BD-7D9287BE8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713" y="3756664"/>
            <a:ext cx="4244314" cy="2952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130245-A284-6AF9-F426-209A2ECB7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252" y="3756664"/>
            <a:ext cx="3706761" cy="2952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111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48AD-45D6-70C4-F59F-22E63F36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187944"/>
            <a:ext cx="12005187" cy="1188720"/>
          </a:xfrm>
        </p:spPr>
        <p:txBody>
          <a:bodyPr/>
          <a:lstStyle/>
          <a:p>
            <a:r>
              <a:rPr lang="en-IN" b="1" dirty="0"/>
              <a:t>Count of customer by location and customer segment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3E8A6-BAA3-BBD9-FE37-78E751C51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131" y="1969832"/>
            <a:ext cx="5447070" cy="3506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912583-6760-E138-0889-0FFB54AF0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9832"/>
            <a:ext cx="5447069" cy="3519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40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F5202-8FAE-1F84-2435-5FACC9C2A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1805" y="1295133"/>
            <a:ext cx="5617804" cy="3411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7CD9206-4EB3-E0BF-0AD9-2A913966F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8530" y="143016"/>
            <a:ext cx="992776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  <a:ea typeface="Arial" panose="020B0604020202020204" pitchFamily="34" charset="0"/>
                <a:cs typeface="Arial" pitchFamily="34" charset="0"/>
              </a:rPr>
              <a:t>Churn Risk Management Assessment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2532F-5D84-2862-1B0E-98A2064583C4}"/>
              </a:ext>
            </a:extLst>
          </p:cNvPr>
          <p:cNvSpPr txBox="1"/>
          <p:nvPr/>
        </p:nvSpPr>
        <p:spPr>
          <a:xfrm>
            <a:off x="108157" y="5101914"/>
            <a:ext cx="12083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78" indent="-285778" defTabSz="91449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itchFamily="34" charset="0"/>
                <a:cs typeface="Arial" pitchFamily="34" charset="0"/>
              </a:rPr>
              <a:t>Rich Segment Dominance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– The Rich segment holds the largest share across all credit score buckets.</a:t>
            </a:r>
          </a:p>
          <a:p>
            <a:pPr marL="285778" indent="-285778" defTabSz="91449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itchFamily="34" charset="0"/>
                <a:cs typeface="Arial" pitchFamily="34" charset="0"/>
              </a:rPr>
              <a:t>Lower Middle Class &amp; Poor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– These segments have the smallest shares.</a:t>
            </a:r>
          </a:p>
          <a:p>
            <a:pPr marL="285778" indent="-285778" defTabSz="91449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itchFamily="34" charset="0"/>
                <a:cs typeface="Arial" pitchFamily="34" charset="0"/>
              </a:rPr>
              <a:t>Upper-Middle Class Stability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– This segment remains fairly consistent .</a:t>
            </a:r>
          </a:p>
          <a:p>
            <a:pPr marL="285778" indent="-285778" defTabSz="91449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itchFamily="34" charset="0"/>
                <a:cs typeface="Arial" pitchFamily="34" charset="0"/>
              </a:rPr>
              <a:t>Credit Score Distribution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– Customer segments remain stable across credit scores, indicating no major shifts in composition</a:t>
            </a:r>
            <a:r>
              <a:rPr lang="en-US" altLang="en-US" dirty="0"/>
              <a:t>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29D53-F1C6-5AC3-BE80-08CE6183A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1295133"/>
            <a:ext cx="5506067" cy="3411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2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C33EF7CB-CBDA-0540-8847-B3F682904634}"/>
              </a:ext>
            </a:extLst>
          </p:cNvPr>
          <p:cNvSpPr txBox="1">
            <a:spLocks/>
          </p:cNvSpPr>
          <p:nvPr/>
        </p:nvSpPr>
        <p:spPr bwMode="black">
          <a:xfrm>
            <a:off x="140628" y="136356"/>
            <a:ext cx="11910744" cy="923458"/>
          </a:xfrm>
          <a:prstGeom prst="rect">
            <a:avLst/>
          </a:prstGeom>
          <a:noFill/>
          <a:ln w="31750" cap="sq">
            <a:solidFill>
              <a:srgbClr val="404040"/>
            </a:solidFill>
            <a:miter lim="800000"/>
          </a:ln>
        </p:spPr>
        <p:txBody>
          <a:bodyPr vert="horz" wrap="square" lIns="182880" tIns="182880" rIns="182880" bIns="18288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46">
              <a:lnSpc>
                <a:spcPct val="100000"/>
              </a:lnSpc>
              <a:spcBef>
                <a:spcPts val="0"/>
              </a:spcBef>
              <a:defRPr/>
            </a:pPr>
            <a:r>
              <a:rPr lang="en-IN" sz="3601" cap="none" spc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  </a:t>
            </a:r>
            <a:r>
              <a:rPr lang="en-IN" b="1" cap="none" spc="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Total Customers and Churn Rate VS Num of Products</a:t>
            </a:r>
            <a:endParaRPr lang="en-IN" sz="3601" b="1" cap="none" spc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DD06E-1EA5-5ECA-6C01-0ED9A70BC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5" y="1532254"/>
            <a:ext cx="4724400" cy="2870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C636CA-E71A-DE4C-DCEB-18FD9CB885E5}"/>
              </a:ext>
            </a:extLst>
          </p:cNvPr>
          <p:cNvSpPr txBox="1"/>
          <p:nvPr/>
        </p:nvSpPr>
        <p:spPr>
          <a:xfrm>
            <a:off x="0" y="5279923"/>
            <a:ext cx="121231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78" indent="-285778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Customers who purchased 4 products have the highest churn rate at 100%, which steadily decreases as the number of products purchased decreases. </a:t>
            </a:r>
          </a:p>
          <a:p>
            <a:pPr marL="285778" indent="-285778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78" indent="-285778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Additionally, the majority of customers have purchased only one product, with the number of customers decreasing as they buy more products..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5DB573-334C-BF47-DC27-6A162B45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75" y="1532254"/>
            <a:ext cx="4724400" cy="2870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4647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E1E6-2353-11EB-6A4C-5C1363FD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310" y="207608"/>
            <a:ext cx="7729728" cy="910363"/>
          </a:xfrm>
        </p:spPr>
        <p:txBody>
          <a:bodyPr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Arial"/>
              </a:rPr>
              <a:t>Churn rate Analysis</a:t>
            </a:r>
            <a:endParaRPr lang="en-IN" sz="20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A82862-E20D-FE8C-5907-BBAC8D3FD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864" y="1389812"/>
            <a:ext cx="6666271" cy="3086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E576093A-9B7D-3552-C2D6-665C557D2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748397"/>
            <a:ext cx="12192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Churn Observed in 2017 (Tenure 5):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churn rate reached its highest point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23.7%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significant customer drop-off around the mid-tenure stage. This suggests a potential engagement or satisfaction gap during this period.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Trend Across Years: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rates vary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19% and 21%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most tenure groups, showing moderate volatility rather than a consistent upward or downward pattern.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Churn at Higher Tenure Levels: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tenure 6 and 7, churn stabilizes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19–21%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implying relatively better retention among longer-tenured customers compared to mid-tenure customers.</a:t>
            </a:r>
          </a:p>
        </p:txBody>
      </p:sp>
    </p:spTree>
    <p:extLst>
      <p:ext uri="{BB962C8B-B14F-4D97-AF65-F5344CB8AC3E}">
        <p14:creationId xmlns:p14="http://schemas.microsoft.com/office/powerpoint/2010/main" val="129080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75D05-4141-E2E7-F03A-4BFCC3B94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81" y="1537212"/>
            <a:ext cx="4792495" cy="3238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CB2C0B-1A42-3625-066E-D5EFD5CBE3E0}"/>
              </a:ext>
            </a:extLst>
          </p:cNvPr>
          <p:cNvSpPr txBox="1"/>
          <p:nvPr/>
        </p:nvSpPr>
        <p:spPr>
          <a:xfrm>
            <a:off x="314632" y="117987"/>
            <a:ext cx="6597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Arial"/>
              </a:rPr>
              <a:t>Total customers vs Tenure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9A4AE-E130-95B0-EEC7-18E97CD90FBD}"/>
              </a:ext>
            </a:extLst>
          </p:cNvPr>
          <p:cNvSpPr txBox="1"/>
          <p:nvPr/>
        </p:nvSpPr>
        <p:spPr>
          <a:xfrm>
            <a:off x="5820697" y="1537212"/>
            <a:ext cx="59681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Customers with tenure greater than or equal  to 4 years show significantly higher retention rates. 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At 4 years of tenure, 2,396 customers are retained, with 575 exits.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At 5 years of tenure, 1,960 customers are retained, with 550 exits.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Retention consistently remains high as tenure increases.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In contrast, customers with tenure of 3 years or less have a relatively higher churn rate: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51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8C8FD3-F640-E6C5-0ACC-AEAFADA80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413" y="1490988"/>
            <a:ext cx="4674807" cy="3101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428AFD-6774-929B-010F-DEA28C2B5BE0}"/>
              </a:ext>
            </a:extLst>
          </p:cNvPr>
          <p:cNvSpPr txBox="1"/>
          <p:nvPr/>
        </p:nvSpPr>
        <p:spPr>
          <a:xfrm>
            <a:off x="255639" y="235974"/>
            <a:ext cx="9822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anose="020B0604020202020204" pitchFamily="34" charset="0"/>
                <a:cs typeface="Arial" pitchFamily="34" charset="0"/>
              </a:rPr>
              <a:t>Region VS Total Customers and Churn Rate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FED17-3006-D5CB-D048-E41C2DCA26AD}"/>
              </a:ext>
            </a:extLst>
          </p:cNvPr>
          <p:cNvSpPr txBox="1"/>
          <p:nvPr/>
        </p:nvSpPr>
        <p:spPr>
          <a:xfrm>
            <a:off x="614517" y="4980628"/>
            <a:ext cx="109629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In France: Highest active members (5.0K) and low churn rate (16.2%).Strong retention.</a:t>
            </a:r>
          </a:p>
          <a:p>
            <a:pPr marL="285750" indent="-285750"/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In Germany: High churn rate (32.4%) despite fewer active members (2.5K). Retention challenges.</a:t>
            </a:r>
          </a:p>
          <a:p>
            <a:pPr marL="285750" indent="-285750"/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In Spain: Same active members as Germany (2.5K) but lower churn rate (16.7%). Stable retention.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C284B2-BD45-3DD1-9CE9-8764A553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946" y="1490988"/>
            <a:ext cx="5338602" cy="3101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656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03CA-DB66-E185-0E44-E92BBD00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412" y="197775"/>
            <a:ext cx="8884202" cy="851370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Arial"/>
              </a:rPr>
              <a:t>Total customers with Credit Card and No Credit Cards</a:t>
            </a:r>
            <a:endParaRPr lang="en-IN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FFD9E-A7E0-5BD3-14A1-212C3BBE9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662" y="2091971"/>
            <a:ext cx="4350744" cy="2975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36C2D-CF87-061B-C897-DB8C4FEA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40" y="2091971"/>
            <a:ext cx="5146673" cy="2975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79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E92B-5434-51E5-1E6B-BACBFCA8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2735"/>
            <a:ext cx="7729728" cy="657631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Arial"/>
              </a:rPr>
            </a:br>
            <a:r>
              <a:rPr kumimoji="0" lang="en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Arial"/>
              </a:rPr>
              <a:t>Total Customers joined monthly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B1A7D-A7CC-65F2-2A81-05959B47F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336" y="1159177"/>
            <a:ext cx="5288037" cy="2797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C522F-1AF5-E43F-D31A-D56DF6D6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625" y="1159177"/>
            <a:ext cx="5288038" cy="2797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F2A76F-432B-F35B-6587-A3A12B459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640" y="4105809"/>
            <a:ext cx="4063745" cy="2619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9954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6750-1801-9422-B4AD-8F6DA91D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403" y="187944"/>
            <a:ext cx="9764220" cy="677295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GB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anose="020B0604020202020204" pitchFamily="34" charset="0"/>
                <a:cs typeface="Arial" pitchFamily="34" charset="0"/>
              </a:rPr>
            </a:br>
            <a:r>
              <a:rPr kumimoji="0" lang="en-GB" sz="3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Arial" panose="020B0604020202020204" pitchFamily="34" charset="0"/>
                <a:cs typeface="Arial" pitchFamily="34" charset="0"/>
              </a:rPr>
              <a:t>Correlation between Balance, Credit score and Salary</a:t>
            </a:r>
            <a:b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DC1AF-7263-0A7A-7513-6D4F3D17C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3834" y="1635535"/>
            <a:ext cx="4153365" cy="310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40E35-C0CB-837F-26F3-C9CB3501E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129" y="1635535"/>
            <a:ext cx="6820852" cy="3101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0C2388-D8AC-5579-9977-C3607E35A9AB}"/>
              </a:ext>
            </a:extLst>
          </p:cNvPr>
          <p:cNvSpPr txBox="1"/>
          <p:nvPr/>
        </p:nvSpPr>
        <p:spPr>
          <a:xfrm>
            <a:off x="292892" y="5012038"/>
            <a:ext cx="11653302" cy="1658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469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Customers who exited tend to have a lower sum of estimated salary and balance compared to retained customers. </a:t>
            </a:r>
          </a:p>
          <a:p>
            <a:pPr marL="69469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However there are no outliers. </a:t>
            </a:r>
          </a:p>
          <a:p>
            <a:pPr marL="69469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There is a positive correlation between the sum of estimated salary and the sum of balance. </a:t>
            </a:r>
          </a:p>
          <a:p>
            <a:pPr marL="69469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itchFamily="34" charset="0"/>
                <a:ea typeface="Times New Roman" panose="02020603050405020304" pitchFamily="18" charset="0"/>
                <a:cs typeface="Arial" pitchFamily="34" charset="0"/>
              </a:rPr>
              <a:t>This means that customers with a higher estimated salary also tend to have a higher balance.</a:t>
            </a:r>
            <a:endParaRPr lang="en-IN" sz="1600" dirty="0">
              <a:latin typeface="Arial" pitchFamily="34" charset="0"/>
              <a:ea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12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2448-C16A-A441-C55F-0483837B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3528"/>
            <a:ext cx="7729728" cy="844443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KEY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INSIGHTS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3948-FADB-F614-6FAE-EA12D61D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7649" y="1878008"/>
            <a:ext cx="7729728" cy="3101983"/>
          </a:xfrm>
        </p:spPr>
        <p:txBody>
          <a:bodyPr>
            <a:normAutofit fontScale="92500" lnSpcReduction="10000"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poorest credit score segment (300-579) experiences the highest exit rate.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Possessing a credit card does not significantly affect churn rates.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most common number of products among customers who have exited the bank is one.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Many customers join the bank during the months of August to December.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highest churn rate and the lowest number of active members indicate that </a:t>
            </a:r>
            <a:r>
              <a:rPr lang="en-US" altLang="en-US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germany</a:t>
            </a:r>
            <a:r>
              <a:rPr lang="en-US" alt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is a significant financial risk for the bank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804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F1622-C423-5DFE-A01C-E3BBECF4F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03" y="1661652"/>
            <a:ext cx="11710219" cy="5395900"/>
          </a:xfrm>
        </p:spPr>
        <p:txBody>
          <a:bodyPr/>
          <a:lstStyle/>
          <a:p>
            <a:r>
              <a:rPr lang="en-IN" dirty="0"/>
              <a:t>The analysis clearly demonstrates that </a:t>
            </a:r>
            <a:r>
              <a:rPr lang="en-IN" b="1" dirty="0"/>
              <a:t>long-term customers exhibit stronger engagement, higher total product usage, and greater contribution to the organization’s product portfolio</a:t>
            </a:r>
            <a:r>
              <a:rPr lang="en-IN" dirty="0"/>
              <a:t>. While new customers show similar average product usage per individual, the cumulative impact of tenure significantly enhances overall customer value.</a:t>
            </a:r>
          </a:p>
          <a:p>
            <a:r>
              <a:rPr lang="en-IN" dirty="0"/>
              <a:t>This pattern strongly suggests that customer loyalty increases over time and that strategic retention efforts can substantially improve long-term profitability.</a:t>
            </a:r>
          </a:p>
          <a:p>
            <a:r>
              <a:rPr lang="en-IN" dirty="0"/>
              <a:t>The Product Affinity Study proves that customers are likely to adopt complementary banking products that facilitate their primary financial needs. By understanding these associations, financial institutions can develop accurate cross-selling initiatives to improve customer engagement and profitability. By leveraging behavioural knowledge and optimizing digital channels, banks can improve customer relationships, service personalization, and sustain long-term growth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12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E388-93BA-8C3C-30B8-FEACF75E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101" y="178111"/>
            <a:ext cx="7729728" cy="978818"/>
          </a:xfrm>
        </p:spPr>
        <p:txBody>
          <a:bodyPr/>
          <a:lstStyle/>
          <a:p>
            <a:r>
              <a:rPr lang="en-IN" b="1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8B95DB-0BEA-EEB1-3830-7F3FC7FF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313" y="1641988"/>
            <a:ext cx="9790958" cy="48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51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98662-2B11-6BEA-5A2D-AC7C096A5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504" y="747251"/>
            <a:ext cx="9144000" cy="53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88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55B603-DE0C-725C-45B8-1ABF4755A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323" y="540774"/>
            <a:ext cx="8834778" cy="59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16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6BFA-4ED9-4B33-607F-A012FD90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3750"/>
            <a:ext cx="7729728" cy="746121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Strategies to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Decrease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Churn Rate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31765-4302-FEB0-C9F8-2F8940B5AB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294" y="1953302"/>
            <a:ext cx="10806438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Product Bundling: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Incentivize multi-product adoption to deepen customer relationships and reduce exit risk.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Retention Programs: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loyalty schemes to increase tenure and lifetime value (CLV).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Customer Experience: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service quality and proactive engagement to boost satisfaction.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Customer 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data-driven insights to refine and personalize product offerings.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Credit Risk Controls: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lending on high credit-score customers to reduce defaults.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Accelerate Q1 Acquisition: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Deploy targeted campaigns and incentives to expand the customer base early in the year.</a:t>
            </a:r>
          </a:p>
        </p:txBody>
      </p:sp>
    </p:spTree>
    <p:extLst>
      <p:ext uri="{BB962C8B-B14F-4D97-AF65-F5344CB8AC3E}">
        <p14:creationId xmlns:p14="http://schemas.microsoft.com/office/powerpoint/2010/main" val="129938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2FC1-1479-2B2D-F95C-FA36509A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649" y="296098"/>
            <a:ext cx="7729728" cy="844444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1200" cap="none" spc="0" normalizeH="0" baseline="0" noProof="0" dirty="0">
                <a:ln w="6350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Conclusion</a:t>
            </a:r>
            <a:r>
              <a:rPr kumimoji="0" lang="en-US" sz="3200" b="1" i="0" u="none" strike="noStrike" kern="1200" cap="none" spc="0" normalizeH="0" baseline="0" noProof="0" dirty="0">
                <a:ln w="6350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endParaRPr lang="en-IN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0E8732-77FF-A40D-F15A-69E525E791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606" y="2073690"/>
            <a:ext cx="11061291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bank maintains a stable churn rate despite continuous growth in new customer acquisition.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credit scores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product adoption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exhibit a higher probability of churn.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Middle-aged and senior customer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 relatively higher churn, requiring targeted retention strategies.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customer engagement, strengthening feedback mechanisms, and enhancing service quality are critical to boosting retention and loyalty.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Promoting bundled and multi-product offerings can increase product penetration and effectively reduce churn.</a:t>
            </a:r>
          </a:p>
        </p:txBody>
      </p:sp>
    </p:spTree>
    <p:extLst>
      <p:ext uri="{BB962C8B-B14F-4D97-AF65-F5344CB8AC3E}">
        <p14:creationId xmlns:p14="http://schemas.microsoft.com/office/powerpoint/2010/main" val="397152439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3A1018-0A08-42BF-BD79-E5B93979A3A6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1103</TotalTime>
  <Words>1202</Words>
  <Application>Microsoft Office PowerPoint</Application>
  <PresentationFormat>Widescreen</PresentationFormat>
  <Paragraphs>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Gill Sans MT</vt:lpstr>
      <vt:lpstr>Lato</vt:lpstr>
      <vt:lpstr>Parcel</vt:lpstr>
      <vt:lpstr>BANK CRM ANALYSIS</vt:lpstr>
      <vt:lpstr>PowerPoint Presentation</vt:lpstr>
      <vt:lpstr>Table of Contents</vt:lpstr>
      <vt:lpstr>Problem Statement</vt:lpstr>
      <vt:lpstr>Data description </vt:lpstr>
      <vt:lpstr>Data description</vt:lpstr>
      <vt:lpstr>DATABASE SCHEMA</vt:lpstr>
      <vt:lpstr> Total Balance of customers in each Region </vt:lpstr>
      <vt:lpstr>Count of customer by location and customer segment </vt:lpstr>
      <vt:lpstr>Churn Risk Management Assessment</vt:lpstr>
      <vt:lpstr>PowerPoint Presentation</vt:lpstr>
      <vt:lpstr>Churn rate Analysis</vt:lpstr>
      <vt:lpstr>PowerPoint Presentation</vt:lpstr>
      <vt:lpstr>PowerPoint Presentation</vt:lpstr>
      <vt:lpstr>Total customers with Credit Card and No Credit Cards</vt:lpstr>
      <vt:lpstr> Total Customers joined monthly </vt:lpstr>
      <vt:lpstr> Correlation between Balance, Credit score and Salary </vt:lpstr>
      <vt:lpstr>KEY INSIGHTS</vt:lpstr>
      <vt:lpstr>PowerPoint Presentation</vt:lpstr>
      <vt:lpstr>DASHBOARD</vt:lpstr>
      <vt:lpstr>PowerPoint Presentation</vt:lpstr>
      <vt:lpstr>PowerPoint Presentation</vt:lpstr>
      <vt:lpstr> Strategies to Decrease Churn Rate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gowda</dc:creator>
  <cp:lastModifiedBy>tejas gowda</cp:lastModifiedBy>
  <cp:revision>3</cp:revision>
  <dcterms:created xsi:type="dcterms:W3CDTF">2026-03-02T13:55:34Z</dcterms:created>
  <dcterms:modified xsi:type="dcterms:W3CDTF">2026-03-03T19:40:11Z</dcterms:modified>
</cp:coreProperties>
</file>